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9" r:id="rId11"/>
  </p:sldIdLst>
  <p:sldSz cx="18288000" cy="10287000"/>
  <p:notesSz cx="6858000" cy="9144000"/>
  <p:embeddedFontLst>
    <p:embeddedFont>
      <p:font typeface="Bricolage Grotesque" panose="020B0604020202020204" charset="0"/>
      <p:bold r:id="rId13"/>
    </p:embeddedFont>
    <p:embeddedFont>
      <p:font typeface="Bricolage Grotesque SemiBold" panose="020B0604020202020204" charset="0"/>
      <p:regular r:id="rId14"/>
      <p:bold r:id="rId15"/>
    </p:embeddedFont>
    <p:embeddedFont>
      <p:font typeface="Times" panose="02020603050405020304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jIag3UzWnSG1OqD8DEzcqGxpMF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88125">
            <a:off x="541928" y="1028700"/>
            <a:ext cx="18931100" cy="8983668"/>
          </a:xfrm>
          <a:custGeom>
            <a:avLst/>
            <a:gdLst/>
            <a:ahLst/>
            <a:cxnLst/>
            <a:rect l="l" t="t" r="r" b="b"/>
            <a:pathLst>
              <a:path w="18931100" h="8983668" extrusionOk="0">
                <a:moveTo>
                  <a:pt x="0" y="0"/>
                </a:moveTo>
                <a:lnTo>
                  <a:pt x="18931101" y="0"/>
                </a:lnTo>
                <a:lnTo>
                  <a:pt x="18931101" y="8983668"/>
                </a:lnTo>
                <a:lnTo>
                  <a:pt x="0" y="8983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8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5" name="Google Shape;85;p1"/>
          <p:cNvSpPr/>
          <p:nvPr/>
        </p:nvSpPr>
        <p:spPr>
          <a:xfrm>
            <a:off x="10734675" y="785862"/>
            <a:ext cx="7553325" cy="8715276"/>
          </a:xfrm>
          <a:custGeom>
            <a:avLst/>
            <a:gdLst/>
            <a:ahLst/>
            <a:cxnLst/>
            <a:rect l="l" t="t" r="r" b="b"/>
            <a:pathLst>
              <a:path w="1202194" h="1387131" extrusionOk="0">
                <a:moveTo>
                  <a:pt x="20499" y="0"/>
                </a:moveTo>
                <a:lnTo>
                  <a:pt x="1181695" y="0"/>
                </a:lnTo>
                <a:cubicBezTo>
                  <a:pt x="1187132" y="0"/>
                  <a:pt x="1192346" y="2160"/>
                  <a:pt x="1196190" y="6004"/>
                </a:cubicBezTo>
                <a:cubicBezTo>
                  <a:pt x="1200035" y="9849"/>
                  <a:pt x="1202194" y="15063"/>
                  <a:pt x="1202194" y="20499"/>
                </a:cubicBezTo>
                <a:lnTo>
                  <a:pt x="1202194" y="1366632"/>
                </a:lnTo>
                <a:cubicBezTo>
                  <a:pt x="1202194" y="1372069"/>
                  <a:pt x="1200035" y="1377283"/>
                  <a:pt x="1196190" y="1381127"/>
                </a:cubicBezTo>
                <a:cubicBezTo>
                  <a:pt x="1192346" y="1384972"/>
                  <a:pt x="1187132" y="1387131"/>
                  <a:pt x="1181695" y="1387131"/>
                </a:cubicBezTo>
                <a:lnTo>
                  <a:pt x="20499" y="1387131"/>
                </a:lnTo>
                <a:cubicBezTo>
                  <a:pt x="9178" y="1387131"/>
                  <a:pt x="0" y="1377954"/>
                  <a:pt x="0" y="1366632"/>
                </a:cubicBezTo>
                <a:lnTo>
                  <a:pt x="0" y="20499"/>
                </a:lnTo>
                <a:cubicBezTo>
                  <a:pt x="0" y="15063"/>
                  <a:pt x="2160" y="9849"/>
                  <a:pt x="6004" y="6004"/>
                </a:cubicBezTo>
                <a:cubicBezTo>
                  <a:pt x="9849" y="2160"/>
                  <a:pt x="15063" y="0"/>
                  <a:pt x="20499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241" b="-240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 rot="10800000">
            <a:off x="15740737" y="6462606"/>
            <a:ext cx="3479615" cy="4575762"/>
            <a:chOff x="-101668" y="-68231"/>
            <a:chExt cx="4639486" cy="6101015"/>
          </a:xfrm>
        </p:grpSpPr>
        <p:grpSp>
          <p:nvGrpSpPr>
            <p:cNvPr id="87" name="Google Shape;87;p1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88" name="Google Shape;88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D4F59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1"/>
            <p:cNvGrpSpPr/>
            <p:nvPr/>
          </p:nvGrpSpPr>
          <p:grpSpPr>
            <a:xfrm rot="-2700000">
              <a:off x="85262" y="1249274"/>
              <a:ext cx="4471480" cy="1798621"/>
              <a:chOff x="0" y="-19050"/>
              <a:chExt cx="882773" cy="355089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41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1"/>
          <p:cNvSpPr/>
          <p:nvPr/>
        </p:nvSpPr>
        <p:spPr>
          <a:xfrm>
            <a:off x="12768943" y="3086100"/>
            <a:ext cx="4490357" cy="4114800"/>
          </a:xfrm>
          <a:custGeom>
            <a:avLst/>
            <a:gdLst/>
            <a:ahLst/>
            <a:cxnLst/>
            <a:rect l="l" t="t" r="r" b="b"/>
            <a:pathLst>
              <a:path w="4490357" h="4114800" extrusionOk="0">
                <a:moveTo>
                  <a:pt x="0" y="0"/>
                </a:moveTo>
                <a:lnTo>
                  <a:pt x="4490357" y="0"/>
                </a:lnTo>
                <a:lnTo>
                  <a:pt x="4490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4" name="Google Shape;94;p1"/>
          <p:cNvGrpSpPr/>
          <p:nvPr/>
        </p:nvGrpSpPr>
        <p:grpSpPr>
          <a:xfrm>
            <a:off x="129788" y="3086100"/>
            <a:ext cx="10528637" cy="4120631"/>
            <a:chOff x="0" y="-95250"/>
            <a:chExt cx="14038183" cy="5494176"/>
          </a:xfrm>
        </p:grpSpPr>
        <p:sp>
          <p:nvSpPr>
            <p:cNvPr id="95" name="Google Shape;95;p1"/>
            <p:cNvSpPr txBox="1"/>
            <p:nvPr/>
          </p:nvSpPr>
          <p:spPr>
            <a:xfrm>
              <a:off x="0" y="-95250"/>
              <a:ext cx="14038183" cy="12606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8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 dirty="0">
                  <a:solidFill>
                    <a:srgbClr val="B0AFD3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 </a:t>
              </a:r>
              <a:r>
                <a:rPr lang="en-US" sz="4800" b="1" i="0" u="none" strike="noStrike" cap="none" dirty="0">
                  <a:solidFill>
                    <a:schemeClr val="tx2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Air Fly Smart Delay Prediction Syste</a:t>
              </a:r>
              <a:r>
                <a:rPr lang="en-US" sz="4800" b="1" dirty="0">
                  <a:solidFill>
                    <a:schemeClr val="tx2"/>
                  </a:solidFill>
                  <a:latin typeface="Times New Roman" panose="02020603050405020304" pitchFamily="18" charset="0"/>
                  <a:ea typeface="Trochut"/>
                  <a:cs typeface="Times New Roman" panose="02020603050405020304" pitchFamily="18" charset="0"/>
                  <a:sym typeface="Trochut"/>
                </a:rPr>
                <a:t>m</a:t>
              </a:r>
              <a:endParaRPr lang="en-US" sz="4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86609" y="2518138"/>
              <a:ext cx="13742123" cy="2880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u="sng" dirty="0">
                  <a:solidFill>
                    <a:srgbClr val="FFFFFF"/>
                  </a:solidFill>
                </a:rPr>
                <a:t>Name</a:t>
              </a:r>
              <a:r>
                <a:rPr lang="en-US" sz="3600" dirty="0">
                  <a:solidFill>
                    <a:srgbClr val="FFFFFF"/>
                  </a:solidFill>
                </a:rPr>
                <a:t>: M . Chandrika (Batch-13)</a:t>
              </a:r>
            </a:p>
            <a:p>
              <a:pPr marL="0" marR="0" lvl="0" indent="0" algn="l" rtl="0">
                <a:lnSpc>
                  <a:spcPct val="12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1" u="sng" dirty="0">
                  <a:solidFill>
                    <a:srgbClr val="FFFFFF"/>
                  </a:solidFill>
                </a:rPr>
                <a:t>Project Name</a:t>
              </a:r>
              <a:r>
                <a:rPr lang="en-US" sz="3600" dirty="0">
                  <a:solidFill>
                    <a:srgbClr val="FFFFFF"/>
                  </a:solidFill>
                </a:rPr>
                <a:t>:  Air Fly Insights Data Visualization and Analysis of Airline Operations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536402" y="669925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D2EEFF"/>
                </a:solidFill>
                <a:latin typeface="Times"/>
                <a:ea typeface="Times"/>
                <a:cs typeface="Times"/>
                <a:sym typeface="Times"/>
              </a:rPr>
              <a:t>Technology Stack:</a:t>
            </a:r>
            <a:endParaRPr dirty="0"/>
          </a:p>
        </p:txBody>
      </p:sp>
      <p:pic>
        <p:nvPicPr>
          <p:cNvPr id="1026" name="Picture 2" descr="Streamlit - Revolutionizing Data App ...">
            <a:extLst>
              <a:ext uri="{FF2B5EF4-FFF2-40B4-BE49-F238E27FC236}">
                <a16:creationId xmlns:a16="http://schemas.microsoft.com/office/drawing/2014/main" id="{82C045AE-6DB8-9426-1A81-F2F715DB9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56" y="3119744"/>
            <a:ext cx="4483509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me Python libraries for machine learning | by Nischal Madiraju | Medium">
            <a:extLst>
              <a:ext uri="{FF2B5EF4-FFF2-40B4-BE49-F238E27FC236}">
                <a16:creationId xmlns:a16="http://schemas.microsoft.com/office/drawing/2014/main" id="{F127D2B5-49D2-2831-6A48-E52839ECE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568" y="3119744"/>
            <a:ext cx="5058697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- Kunal Cyber Security">
            <a:extLst>
              <a:ext uri="{FF2B5EF4-FFF2-40B4-BE49-F238E27FC236}">
                <a16:creationId xmlns:a16="http://schemas.microsoft.com/office/drawing/2014/main" id="{D8DDFD57-B123-A5A6-779C-80E317EF7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2657" y="3045771"/>
            <a:ext cx="3965472" cy="364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FA3342-FBC8-9CAC-2FA8-42E25A983D76}"/>
              </a:ext>
            </a:extLst>
          </p:cNvPr>
          <p:cNvSpPr txBox="1"/>
          <p:nvPr/>
        </p:nvSpPr>
        <p:spPr>
          <a:xfrm>
            <a:off x="1961535" y="7772445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Front  end</a:t>
            </a:r>
            <a:endParaRPr lang="en-IN" sz="1800" b="1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63C9D-05FB-2A11-E3CE-AC0A6EC8FED9}"/>
              </a:ext>
            </a:extLst>
          </p:cNvPr>
          <p:cNvSpPr txBox="1"/>
          <p:nvPr/>
        </p:nvSpPr>
        <p:spPr>
          <a:xfrm>
            <a:off x="7669161" y="7780175"/>
            <a:ext cx="1858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Middle Ware</a:t>
            </a:r>
            <a:endParaRPr lang="en-IN" sz="1800" b="1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C96CD2-65CD-14BA-B85D-4552AC9193BC}"/>
              </a:ext>
            </a:extLst>
          </p:cNvPr>
          <p:cNvSpPr txBox="1"/>
          <p:nvPr/>
        </p:nvSpPr>
        <p:spPr>
          <a:xfrm rot="10800000" flipV="1">
            <a:off x="14571406" y="7649335"/>
            <a:ext cx="1755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Back end</a:t>
            </a:r>
            <a:endParaRPr lang="en-IN" sz="1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Core Features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A23A5-5357-B7C6-144F-55428F50DF41}"/>
              </a:ext>
            </a:extLst>
          </p:cNvPr>
          <p:cNvSpPr txBox="1"/>
          <p:nvPr/>
        </p:nvSpPr>
        <p:spPr>
          <a:xfrm>
            <a:off x="943897" y="2713704"/>
            <a:ext cx="14512413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/>
                </a:solidFill>
              </a:rPr>
              <a:t>Interactive Dashboard</a:t>
            </a:r>
            <a:r>
              <a:rPr lang="en-US" sz="2400" b="1" dirty="0">
                <a:solidFill>
                  <a:schemeClr val="tx2"/>
                </a:solidFill>
              </a:rPr>
              <a:t>:-  </a:t>
            </a:r>
            <a:r>
              <a:rPr lang="en-US" sz="2400" dirty="0">
                <a:solidFill>
                  <a:schemeClr val="tx2"/>
                </a:solidFill>
              </a:rPr>
              <a:t>User-friendly interface built with </a:t>
            </a:r>
            <a:r>
              <a:rPr lang="en-US" sz="2400" b="1" dirty="0" err="1">
                <a:solidFill>
                  <a:schemeClr val="tx2"/>
                </a:solidFill>
              </a:rPr>
              <a:t>Streamlit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, Real-time display of analytics and insights , Dynamic charts and visualizations using </a:t>
            </a:r>
            <a:r>
              <a:rPr lang="en-US" sz="2400" b="1" dirty="0">
                <a:solidFill>
                  <a:schemeClr val="tx2"/>
                </a:solidFill>
              </a:rPr>
              <a:t>Matplotlib/Seaborn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Machine Learning Integration</a:t>
            </a:r>
            <a:r>
              <a:rPr lang="en-US" sz="2400" b="1" dirty="0">
                <a:solidFill>
                  <a:schemeClr val="tx2"/>
                </a:solidFill>
              </a:rPr>
              <a:t>:-   </a:t>
            </a:r>
            <a:r>
              <a:rPr lang="en-US" sz="2400" dirty="0">
                <a:solidFill>
                  <a:schemeClr val="tx2"/>
                </a:solidFill>
              </a:rPr>
              <a:t>Predictive analytics with </a:t>
            </a:r>
            <a:r>
              <a:rPr lang="en-US" sz="2400" b="1" dirty="0">
                <a:solidFill>
                  <a:schemeClr val="tx2"/>
                </a:solidFill>
              </a:rPr>
              <a:t>Random Forest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Logistic Regression</a:t>
            </a:r>
            <a:r>
              <a:rPr lang="en-US" sz="2400" dirty="0">
                <a:solidFill>
                  <a:schemeClr val="tx2"/>
                </a:solidFill>
              </a:rPr>
              <a:t> ,Model training and evaluation for accurate results ,Ability to save/load models using </a:t>
            </a:r>
            <a:r>
              <a:rPr lang="en-US" sz="2400" b="1" dirty="0" err="1">
                <a:solidFill>
                  <a:schemeClr val="tx2"/>
                </a:solidFill>
              </a:rPr>
              <a:t>Joblib</a:t>
            </a:r>
            <a:r>
              <a:rPr lang="en-US" sz="2400" b="1" dirty="0">
                <a:solidFill>
                  <a:schemeClr val="tx2"/>
                </a:solidFill>
              </a:rPr>
              <a:t> / Pickle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Data Handling &amp; Analysis</a:t>
            </a:r>
            <a:r>
              <a:rPr lang="en-US" sz="2400" b="1" dirty="0">
                <a:solidFill>
                  <a:schemeClr val="tx2"/>
                </a:solidFill>
              </a:rPr>
              <a:t>:-  </a:t>
            </a:r>
            <a:r>
              <a:rPr lang="en-US" sz="2400" dirty="0">
                <a:solidFill>
                  <a:schemeClr val="tx2"/>
                </a:solidFill>
              </a:rPr>
              <a:t>Efficient data processing with </a:t>
            </a:r>
            <a:r>
              <a:rPr lang="en-US" sz="2400" b="1" dirty="0">
                <a:solidFill>
                  <a:schemeClr val="tx2"/>
                </a:solidFill>
              </a:rPr>
              <a:t>Pandas / NumPy</a:t>
            </a:r>
            <a:r>
              <a:rPr lang="en-US" sz="2400" dirty="0">
                <a:solidFill>
                  <a:schemeClr val="tx2"/>
                </a:solidFill>
              </a:rPr>
              <a:t> ,Clean, structured input for ML models ,Data filtering, aggregation, and transformation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Backend Functionality</a:t>
            </a:r>
            <a:r>
              <a:rPr lang="en-US" sz="2400" b="1" dirty="0">
                <a:solidFill>
                  <a:schemeClr val="tx2"/>
                </a:solidFill>
              </a:rPr>
              <a:t>:-  </a:t>
            </a:r>
            <a:r>
              <a:rPr lang="en-US" sz="2400" dirty="0">
                <a:solidFill>
                  <a:schemeClr val="tx2"/>
                </a:solidFill>
              </a:rPr>
              <a:t>Business logic handled with </a:t>
            </a:r>
            <a:r>
              <a:rPr lang="en-US" sz="2400" b="1" dirty="0">
                <a:solidFill>
                  <a:schemeClr val="tx2"/>
                </a:solidFill>
              </a:rPr>
              <a:t>Python,</a:t>
            </a:r>
            <a:r>
              <a:rPr lang="en-US" sz="2400" dirty="0">
                <a:solidFill>
                  <a:schemeClr val="tx2"/>
                </a:solidFill>
              </a:rPr>
              <a:t> Smooth connection between frontend (dashboard) and ML models 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</a:p>
          <a:p>
            <a:endParaRPr lang="en-US" sz="2400" b="1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Development &amp; Collaboration Tools</a:t>
            </a:r>
            <a:r>
              <a:rPr lang="en-US" sz="2400" b="1" dirty="0">
                <a:solidFill>
                  <a:schemeClr val="tx2"/>
                </a:solidFill>
              </a:rPr>
              <a:t>:-  </a:t>
            </a:r>
            <a:r>
              <a:rPr lang="en-US" sz="2400" dirty="0">
                <a:solidFill>
                  <a:schemeClr val="tx2"/>
                </a:solidFill>
              </a:rPr>
              <a:t>Version control and team collaboration via </a:t>
            </a:r>
            <a:r>
              <a:rPr lang="en-US" sz="2400" b="1" dirty="0">
                <a:solidFill>
                  <a:schemeClr val="tx2"/>
                </a:solidFill>
              </a:rPr>
              <a:t>Git &amp; GitHub</a:t>
            </a:r>
            <a:r>
              <a:rPr lang="en-US" sz="2400" dirty="0">
                <a:solidFill>
                  <a:schemeClr val="tx2"/>
                </a:solidFill>
              </a:rPr>
              <a:t> ,Code editing and debugging with </a:t>
            </a:r>
            <a:r>
              <a:rPr lang="en-US" sz="2400" b="1" dirty="0">
                <a:solidFill>
                  <a:schemeClr val="tx2"/>
                </a:solidFill>
              </a:rPr>
              <a:t>VS Code / PyCharm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endParaRPr lang="en-US" sz="2400" u="sng" dirty="0">
              <a:solidFill>
                <a:schemeClr val="tx2"/>
              </a:solidFill>
            </a:endParaRPr>
          </a:p>
          <a:p>
            <a:r>
              <a:rPr lang="en-US" sz="2400" b="1" u="sng" dirty="0">
                <a:solidFill>
                  <a:schemeClr val="tx2"/>
                </a:solidFill>
              </a:rPr>
              <a:t> Deployment Ready </a:t>
            </a:r>
            <a:r>
              <a:rPr lang="en-US" sz="2400" b="1" dirty="0">
                <a:solidFill>
                  <a:schemeClr val="tx2"/>
                </a:solidFill>
              </a:rPr>
              <a:t>:-  </a:t>
            </a:r>
            <a:r>
              <a:rPr lang="en-US" sz="2400" dirty="0">
                <a:solidFill>
                  <a:schemeClr val="tx2"/>
                </a:solidFill>
              </a:rPr>
              <a:t>Easy deployment for users to access the dashboard online ,Potential to integrate with cloud platforms for real-time usage</a:t>
            </a:r>
          </a:p>
          <a:p>
            <a:endParaRPr lang="en-IN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"/>
          <p:cNvSpPr txBox="1"/>
          <p:nvPr/>
        </p:nvSpPr>
        <p:spPr>
          <a:xfrm>
            <a:off x="666750" y="800100"/>
            <a:ext cx="5987700" cy="20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Facing</a:t>
            </a:r>
            <a:endParaRPr dirty="0"/>
          </a:p>
        </p:txBody>
      </p:sp>
      <p:grpSp>
        <p:nvGrpSpPr>
          <p:cNvPr id="144" name="Google Shape;144;p4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45" name="Google Shape;145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4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4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154" name="Google Shape;154;p4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4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6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4"/>
          <p:cNvSpPr txBox="1"/>
          <p:nvPr/>
        </p:nvSpPr>
        <p:spPr>
          <a:xfrm>
            <a:off x="12872519" y="2833411"/>
            <a:ext cx="4748625" cy="2825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400" b="1" u="sng" dirty="0">
                <a:solidFill>
                  <a:schemeClr val="tx2"/>
                </a:solidFill>
              </a:rPr>
              <a:t>Model Accuracy &amp; Overfitting</a:t>
            </a:r>
          </a:p>
          <a:p>
            <a:r>
              <a:rPr lang="en-IN" sz="2000" dirty="0">
                <a:solidFill>
                  <a:schemeClr val="tx2"/>
                </a:solidFill>
              </a:rPr>
              <a:t>ML models like Random Forest or Logistic Regression may overfit on training data </a:t>
            </a:r>
          </a:p>
          <a:p>
            <a:r>
              <a:rPr lang="en-IN" sz="2000" dirty="0">
                <a:solidFill>
                  <a:schemeClr val="tx2"/>
                </a:solidFill>
              </a:rPr>
              <a:t>Ensuring generalization to new/unseen data is challenging </a:t>
            </a:r>
          </a:p>
          <a:p>
            <a:r>
              <a:rPr lang="en-IN" sz="2000" dirty="0">
                <a:solidFill>
                  <a:schemeClr val="tx2"/>
                </a:solidFill>
              </a:rPr>
              <a:t>Requires hyperparameter tuning and validation techniques (like K-Fold Cross Validation)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60" name="Google Shape;160;p4"/>
          <p:cNvSpPr txBox="1"/>
          <p:nvPr/>
        </p:nvSpPr>
        <p:spPr>
          <a:xfrm>
            <a:off x="7858075" y="2288100"/>
            <a:ext cx="47486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83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2"/>
              </a:solidFill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7858117" y="7218336"/>
            <a:ext cx="4748625" cy="301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</a:rPr>
              <a:t>Integration Between Components</a:t>
            </a:r>
          </a:p>
          <a:p>
            <a:r>
              <a:rPr lang="en-US" sz="2000" dirty="0">
                <a:solidFill>
                  <a:schemeClr val="tx2"/>
                </a:solidFill>
              </a:rPr>
              <a:t>Linking </a:t>
            </a:r>
            <a:r>
              <a:rPr lang="en-US" sz="2000" b="1" dirty="0" err="1">
                <a:solidFill>
                  <a:schemeClr val="tx2"/>
                </a:solidFill>
              </a:rPr>
              <a:t>Streamlit</a:t>
            </a:r>
            <a:r>
              <a:rPr lang="en-US" sz="2000" b="1" dirty="0">
                <a:solidFill>
                  <a:schemeClr val="tx2"/>
                </a:solidFill>
              </a:rPr>
              <a:t> frontend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b="1" dirty="0">
                <a:solidFill>
                  <a:schemeClr val="tx2"/>
                </a:solidFill>
              </a:rPr>
              <a:t>Python backend</a:t>
            </a:r>
            <a:r>
              <a:rPr lang="en-US" sz="2000" dirty="0">
                <a:solidFill>
                  <a:schemeClr val="tx2"/>
                </a:solidFill>
              </a:rPr>
              <a:t>, and </a:t>
            </a:r>
            <a:r>
              <a:rPr lang="en-US" sz="2000" b="1" dirty="0">
                <a:solidFill>
                  <a:schemeClr val="tx2"/>
                </a:solidFill>
              </a:rPr>
              <a:t>ML models</a:t>
            </a:r>
            <a:r>
              <a:rPr lang="en-US" sz="2000" dirty="0">
                <a:solidFill>
                  <a:schemeClr val="tx2"/>
                </a:solidFill>
              </a:rPr>
              <a:t> smoothly can be tricky </a:t>
            </a:r>
          </a:p>
          <a:p>
            <a:r>
              <a:rPr lang="en-US" sz="2000" dirty="0">
                <a:solidFill>
                  <a:schemeClr val="tx2"/>
                </a:solidFill>
              </a:rPr>
              <a:t>Middleware handling and model loading must be efficient to avoid delays in dashboard response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4"/>
          <p:cNvSpPr txBox="1"/>
          <p:nvPr/>
        </p:nvSpPr>
        <p:spPr>
          <a:xfrm>
            <a:off x="12981269" y="7283186"/>
            <a:ext cx="4748625" cy="2646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</a:rPr>
              <a:t>Deployment &amp; Scalability</a:t>
            </a:r>
          </a:p>
          <a:p>
            <a:r>
              <a:rPr lang="en-US" sz="2400" dirty="0">
                <a:solidFill>
                  <a:schemeClr val="tx2"/>
                </a:solidFill>
              </a:rPr>
              <a:t>Deploying the dashboard for multiple users simultaneously may cause performance issues </a:t>
            </a:r>
          </a:p>
          <a:p>
            <a:r>
              <a:rPr lang="en-US" sz="2400" dirty="0">
                <a:solidFill>
                  <a:schemeClr val="tx2"/>
                </a:solidFill>
              </a:rPr>
              <a:t>Cloud deployment, resource management, and scaling the ML models need careful planning </a:t>
            </a:r>
          </a:p>
        </p:txBody>
      </p:sp>
      <p:grpSp>
        <p:nvGrpSpPr>
          <p:cNvPr id="168" name="Google Shape;168;p4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169" name="Google Shape;169;p4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170" name="Google Shape;170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4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173" name="Google Shape;173;p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2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" name="Google Shape;175;p4"/>
          <p:cNvSpPr txBox="1"/>
          <p:nvPr/>
        </p:nvSpPr>
        <p:spPr>
          <a:xfrm>
            <a:off x="13182624" y="6020717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8182611" y="6002585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3186394" y="1543967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8227209" y="1543967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9E99E-C147-B52E-EF7B-4D1721931669}"/>
              </a:ext>
            </a:extLst>
          </p:cNvPr>
          <p:cNvSpPr txBox="1"/>
          <p:nvPr/>
        </p:nvSpPr>
        <p:spPr>
          <a:xfrm>
            <a:off x="7628223" y="2582897"/>
            <a:ext cx="400532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/>
                </a:solidFill>
              </a:rPr>
              <a:t>Data Quality &amp; Preprocessing</a:t>
            </a:r>
          </a:p>
          <a:p>
            <a:r>
              <a:rPr lang="en-US" sz="2000" dirty="0">
                <a:solidFill>
                  <a:schemeClr val="tx2"/>
                </a:solidFill>
              </a:rPr>
              <a:t>Real-world data may have missing values, outliers, or inconsistencies </a:t>
            </a:r>
          </a:p>
          <a:p>
            <a:r>
              <a:rPr lang="en-US" sz="2000" dirty="0">
                <a:solidFill>
                  <a:schemeClr val="tx2"/>
                </a:solidFill>
              </a:rPr>
              <a:t>Cleaning and preparing data for ML models can be time-consuming </a:t>
            </a:r>
          </a:p>
          <a:p>
            <a:r>
              <a:rPr lang="en-US" sz="2000" dirty="0">
                <a:solidFill>
                  <a:schemeClr val="tx2"/>
                </a:solidFill>
              </a:rPr>
              <a:t>Requires careful handling to avoid inaccurate predictions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5"/>
          <p:cNvGrpSpPr/>
          <p:nvPr/>
        </p:nvGrpSpPr>
        <p:grpSpPr>
          <a:xfrm rot="8100000">
            <a:off x="139032" y="-256232"/>
            <a:ext cx="3331353" cy="1411904"/>
            <a:chOff x="0" y="-38100"/>
            <a:chExt cx="882773" cy="374139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D4F59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325" tIns="51325" rIns="51325" bIns="51325" anchor="ctr" anchorCtr="0">
              <a:noAutofit/>
            </a:bodyPr>
            <a:lstStyle/>
            <a:p>
              <a:pPr marL="0" marR="0" lvl="0" indent="0" algn="ctr" rtl="0">
                <a:lnSpc>
                  <a:spcPct val="108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 rot="8100000">
            <a:off x="14897628" y="9217754"/>
            <a:ext cx="3353610" cy="1421336"/>
            <a:chOff x="0" y="-38100"/>
            <a:chExt cx="882773" cy="374139"/>
          </a:xfrm>
        </p:grpSpPr>
        <p:sp>
          <p:nvSpPr>
            <p:cNvPr id="187" name="Google Shape;187;p5"/>
            <p:cNvSpPr/>
            <p:nvPr/>
          </p:nvSpPr>
          <p:spPr>
            <a:xfrm>
              <a:off x="0" y="0"/>
              <a:ext cx="882773" cy="336039"/>
            </a:xfrm>
            <a:custGeom>
              <a:avLst/>
              <a:gdLst/>
              <a:ahLst/>
              <a:cxnLst/>
              <a:rect l="l" t="t" r="r" b="b"/>
              <a:pathLst>
                <a:path w="882773" h="336039" extrusionOk="0">
                  <a:moveTo>
                    <a:pt x="679573" y="0"/>
                  </a:moveTo>
                  <a:cubicBezTo>
                    <a:pt x="791798" y="0"/>
                    <a:pt x="882773" y="75225"/>
                    <a:pt x="882773" y="168020"/>
                  </a:cubicBezTo>
                  <a:cubicBezTo>
                    <a:pt x="882773" y="260814"/>
                    <a:pt x="791798" y="336039"/>
                    <a:pt x="679573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B0A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 txBox="1"/>
            <p:nvPr/>
          </p:nvSpPr>
          <p:spPr>
            <a:xfrm>
              <a:off x="0" y="-38100"/>
              <a:ext cx="882773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750" tIns="18750" rIns="18750" bIns="18750" anchor="ctr" anchorCtr="0">
              <a:noAutofit/>
            </a:bodyPr>
            <a:lstStyle/>
            <a:p>
              <a:pPr marL="0" marR="0" lvl="0" indent="0" algn="ctr" rtl="0">
                <a:lnSpc>
                  <a:spcPct val="96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974459" y="2126677"/>
            <a:ext cx="16339050" cy="1567022"/>
            <a:chOff x="0" y="-512625"/>
            <a:chExt cx="21785400" cy="2089363"/>
          </a:xfrm>
        </p:grpSpPr>
        <p:sp>
          <p:nvSpPr>
            <p:cNvPr id="190" name="Google Shape;190;p5"/>
            <p:cNvSpPr txBox="1"/>
            <p:nvPr/>
          </p:nvSpPr>
          <p:spPr>
            <a:xfrm>
              <a:off x="0" y="1206209"/>
              <a:ext cx="21785400" cy="370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90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5"/>
            <p:cNvSpPr txBox="1"/>
            <p:nvPr/>
          </p:nvSpPr>
          <p:spPr>
            <a:xfrm>
              <a:off x="0" y="-512625"/>
              <a:ext cx="21785400" cy="83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54" b="1" i="0" u="none" strike="noStrike" cap="none" dirty="0">
                  <a:solidFill>
                    <a:srgbClr val="B0AFD3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System Architecture Overview</a:t>
              </a:r>
              <a:endParaRPr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6C8D7FB-692F-9BA8-BF84-D67205A952ED}"/>
              </a:ext>
            </a:extLst>
          </p:cNvPr>
          <p:cNvSpPr txBox="1"/>
          <p:nvPr/>
        </p:nvSpPr>
        <p:spPr>
          <a:xfrm>
            <a:off x="974459" y="3554750"/>
            <a:ext cx="1594194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1. </a:t>
            </a:r>
            <a:r>
              <a:rPr lang="en-IN" sz="2000" b="1" u="sng" dirty="0">
                <a:solidFill>
                  <a:schemeClr val="tx2"/>
                </a:solidFill>
              </a:rPr>
              <a:t>Frontend (User Interface)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 Dashboard</a:t>
            </a:r>
            <a:r>
              <a:rPr lang="en-IN" sz="2000" dirty="0">
                <a:solidFill>
                  <a:schemeClr val="tx2"/>
                </a:solidFill>
              </a:rPr>
              <a:t>: Interactive visual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Charts &amp; Visuals</a:t>
            </a:r>
            <a:r>
              <a:rPr lang="en-IN" sz="2000" dirty="0">
                <a:solidFill>
                  <a:schemeClr val="tx2"/>
                </a:solidFill>
              </a:rPr>
              <a:t>: Real-time graphs using Matplotlib/Seaborn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User Input</a:t>
            </a:r>
            <a:r>
              <a:rPr lang="en-IN" sz="2000" dirty="0">
                <a:solidFill>
                  <a:schemeClr val="tx2"/>
                </a:solidFill>
              </a:rPr>
              <a:t>: Filters, selections, and data upload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2. </a:t>
            </a:r>
            <a:r>
              <a:rPr lang="en-IN" sz="2000" b="1" u="sng" dirty="0">
                <a:solidFill>
                  <a:schemeClr val="tx2"/>
                </a:solidFill>
              </a:rPr>
              <a:t>Backend (Application Logic)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Python Core</a:t>
            </a:r>
            <a:r>
              <a:rPr lang="en-IN" sz="2000" dirty="0">
                <a:solidFill>
                  <a:schemeClr val="tx2"/>
                </a:solidFill>
              </a:rPr>
              <a:t>: Handles user requests and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Data Preprocessing</a:t>
            </a:r>
            <a:r>
              <a:rPr lang="en-IN" sz="2000" dirty="0">
                <a:solidFill>
                  <a:schemeClr val="tx2"/>
                </a:solidFill>
              </a:rPr>
              <a:t>: Cleans and formats data for ML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API Endpoints</a:t>
            </a:r>
            <a:r>
              <a:rPr lang="en-IN" sz="2000" dirty="0">
                <a:solidFill>
                  <a:schemeClr val="tx2"/>
                </a:solidFill>
              </a:rPr>
              <a:t> (if any): For data or model access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3. </a:t>
            </a:r>
            <a:r>
              <a:rPr lang="en-IN" sz="2000" b="1" u="sng" dirty="0">
                <a:solidFill>
                  <a:schemeClr val="tx2"/>
                </a:solidFill>
              </a:rPr>
              <a:t>Middleware / ML Layer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Scikit-learn Models</a:t>
            </a:r>
            <a:r>
              <a:rPr lang="en-IN" sz="2000" dirty="0">
                <a:solidFill>
                  <a:schemeClr val="tx2"/>
                </a:solidFill>
              </a:rPr>
              <a:t>: Random Forest, Logistic Regression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Data Manipulation</a:t>
            </a:r>
            <a:r>
              <a:rPr lang="en-IN" sz="2000" dirty="0">
                <a:solidFill>
                  <a:schemeClr val="tx2"/>
                </a:solidFill>
              </a:rPr>
              <a:t>: Pandas / NumPy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Model Persistence</a:t>
            </a:r>
            <a:r>
              <a:rPr lang="en-IN" sz="2000" dirty="0">
                <a:solidFill>
                  <a:schemeClr val="tx2"/>
                </a:solidFill>
              </a:rPr>
              <a:t>: </a:t>
            </a:r>
            <a:r>
              <a:rPr lang="en-IN" sz="2000" dirty="0" err="1">
                <a:solidFill>
                  <a:schemeClr val="tx2"/>
                </a:solidFill>
              </a:rPr>
              <a:t>Joblib</a:t>
            </a:r>
            <a:r>
              <a:rPr lang="en-IN" sz="2000" dirty="0">
                <a:solidFill>
                  <a:schemeClr val="tx2"/>
                </a:solidFill>
              </a:rPr>
              <a:t> / Pickle to save/load models 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4. </a:t>
            </a:r>
            <a:r>
              <a:rPr lang="en-IN" sz="2000" b="1" u="sng" dirty="0">
                <a:solidFill>
                  <a:schemeClr val="tx2"/>
                </a:solidFill>
              </a:rPr>
              <a:t>Development &amp; Deployment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IDE</a:t>
            </a:r>
            <a:r>
              <a:rPr lang="en-IN" sz="2000" dirty="0">
                <a:solidFill>
                  <a:schemeClr val="tx2"/>
                </a:solidFill>
              </a:rPr>
              <a:t>: VS Code / PyCharm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Version Control</a:t>
            </a:r>
            <a:r>
              <a:rPr lang="en-IN" sz="2000" dirty="0">
                <a:solidFill>
                  <a:schemeClr val="tx2"/>
                </a:solidFill>
              </a:rPr>
              <a:t>: Git &amp; 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2"/>
                </a:solidFill>
              </a:rPr>
              <a:t>Deployment</a:t>
            </a:r>
            <a:r>
              <a:rPr lang="en-IN" sz="2000" dirty="0">
                <a:solidFill>
                  <a:schemeClr val="tx2"/>
                </a:solidFill>
              </a:rPr>
              <a:t>: </a:t>
            </a:r>
            <a:r>
              <a:rPr lang="en-IN" sz="2000" dirty="0" err="1">
                <a:solidFill>
                  <a:schemeClr val="tx2"/>
                </a:solidFill>
              </a:rPr>
              <a:t>Streamlit</a:t>
            </a:r>
            <a:r>
              <a:rPr lang="en-IN" sz="2000" dirty="0">
                <a:solidFill>
                  <a:schemeClr val="tx2"/>
                </a:solidFill>
              </a:rPr>
              <a:t> Cloud, local server, or cloud hosting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IN" sz="2000" b="1" u="sng" dirty="0">
                <a:solidFill>
                  <a:schemeClr val="tx2"/>
                </a:solidFill>
              </a:rPr>
              <a:t>Flow</a:t>
            </a:r>
          </a:p>
          <a:p>
            <a:pPr>
              <a:buNone/>
            </a:pPr>
            <a:r>
              <a:rPr lang="en-IN" sz="2000" b="1" dirty="0">
                <a:solidFill>
                  <a:schemeClr val="tx2"/>
                </a:solidFill>
              </a:rPr>
              <a:t>User → </a:t>
            </a: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UI → Python Backend → ML Models → Results → </a:t>
            </a:r>
            <a:r>
              <a:rPr lang="en-IN" sz="2000" b="1" dirty="0" err="1">
                <a:solidFill>
                  <a:schemeClr val="tx2"/>
                </a:solidFill>
              </a:rPr>
              <a:t>Streamlit</a:t>
            </a:r>
            <a:r>
              <a:rPr lang="en-IN" sz="2000" b="1" dirty="0">
                <a:solidFill>
                  <a:schemeClr val="tx2"/>
                </a:solidFill>
              </a:rPr>
              <a:t> UI</a:t>
            </a:r>
            <a:endParaRPr lang="en-IN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/>
        </p:nvSpPr>
        <p:spPr>
          <a:xfrm>
            <a:off x="666750" y="762000"/>
            <a:ext cx="5448300" cy="1500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and Solutions</a:t>
            </a:r>
            <a:endParaRPr dirty="0"/>
          </a:p>
        </p:txBody>
      </p:sp>
      <p:grpSp>
        <p:nvGrpSpPr>
          <p:cNvPr id="197" name="Google Shape;197;p6"/>
          <p:cNvGrpSpPr/>
          <p:nvPr/>
        </p:nvGrpSpPr>
        <p:grpSpPr>
          <a:xfrm>
            <a:off x="7858467" y="1519774"/>
            <a:ext cx="854762" cy="415636"/>
            <a:chOff x="0" y="-38100"/>
            <a:chExt cx="769424" cy="374139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0" name="Google Shape;200;p6"/>
          <p:cNvGrpSpPr/>
          <p:nvPr/>
        </p:nvGrpSpPr>
        <p:grpSpPr>
          <a:xfrm>
            <a:off x="12872519" y="5996524"/>
            <a:ext cx="854762" cy="415636"/>
            <a:chOff x="0" y="-38100"/>
            <a:chExt cx="769424" cy="374139"/>
          </a:xfrm>
        </p:grpSpPr>
        <p:sp>
          <p:nvSpPr>
            <p:cNvPr id="201" name="Google Shape;201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6"/>
          <p:cNvGrpSpPr/>
          <p:nvPr/>
        </p:nvGrpSpPr>
        <p:grpSpPr>
          <a:xfrm>
            <a:off x="7858467" y="5996524"/>
            <a:ext cx="854762" cy="415636"/>
            <a:chOff x="0" y="-38100"/>
            <a:chExt cx="769424" cy="374139"/>
          </a:xfrm>
        </p:grpSpPr>
        <p:sp>
          <p:nvSpPr>
            <p:cNvPr id="204" name="Google Shape;204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6"/>
          <p:cNvGrpSpPr/>
          <p:nvPr/>
        </p:nvGrpSpPr>
        <p:grpSpPr>
          <a:xfrm>
            <a:off x="12872519" y="1519774"/>
            <a:ext cx="854762" cy="415636"/>
            <a:chOff x="0" y="-38100"/>
            <a:chExt cx="769424" cy="374139"/>
          </a:xfrm>
        </p:grpSpPr>
        <p:sp>
          <p:nvSpPr>
            <p:cNvPr id="207" name="Google Shape;207;p6"/>
            <p:cNvSpPr/>
            <p:nvPr/>
          </p:nvSpPr>
          <p:spPr>
            <a:xfrm>
              <a:off x="0" y="0"/>
              <a:ext cx="769424" cy="336039"/>
            </a:xfrm>
            <a:custGeom>
              <a:avLst/>
              <a:gdLst/>
              <a:ahLst/>
              <a:cxnLst/>
              <a:rect l="l" t="t" r="r" b="b"/>
              <a:pathLst>
                <a:path w="769424" h="336039" extrusionOk="0">
                  <a:moveTo>
                    <a:pt x="566224" y="0"/>
                  </a:moveTo>
                  <a:cubicBezTo>
                    <a:pt x="678448" y="0"/>
                    <a:pt x="769424" y="75225"/>
                    <a:pt x="769424" y="168020"/>
                  </a:cubicBezTo>
                  <a:cubicBezTo>
                    <a:pt x="769424" y="260814"/>
                    <a:pt x="678448" y="336039"/>
                    <a:pt x="566224" y="336039"/>
                  </a:cubicBezTo>
                  <a:lnTo>
                    <a:pt x="203200" y="336039"/>
                  </a:lnTo>
                  <a:cubicBezTo>
                    <a:pt x="90976" y="336039"/>
                    <a:pt x="0" y="260814"/>
                    <a:pt x="0" y="168020"/>
                  </a:cubicBezTo>
                  <a:cubicBezTo>
                    <a:pt x="0" y="7522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0733"/>
            </a:solidFill>
            <a:ln w="19050" cap="sq" cmpd="sng">
              <a:solidFill>
                <a:srgbClr val="2BCA8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0" y="-38100"/>
              <a:ext cx="769424" cy="3741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525" tIns="75525" rIns="75525" bIns="75525" anchor="ctr" anchorCtr="0">
              <a:noAutofit/>
            </a:bodyPr>
            <a:lstStyle/>
            <a:p>
              <a:pPr marL="0" marR="0" lvl="0" indent="0" algn="ctr" rtl="0">
                <a:lnSpc>
                  <a:spcPct val="97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6"/>
          <p:cNvSpPr txBox="1"/>
          <p:nvPr/>
        </p:nvSpPr>
        <p:spPr>
          <a:xfrm>
            <a:off x="13052323" y="3049111"/>
            <a:ext cx="4568927" cy="276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b="1" u="sng" dirty="0">
                <a:solidFill>
                  <a:schemeClr val="tx2"/>
                </a:solidFill>
              </a:rPr>
              <a:t>Model Accuracy &amp; Overfitting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Challenge:</a:t>
            </a:r>
            <a:r>
              <a:rPr lang="en-IN" sz="2000" dirty="0">
                <a:solidFill>
                  <a:schemeClr val="tx2"/>
                </a:solidFill>
              </a:rPr>
              <a:t> ML models may overfit training data, performing poorly on new data. 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Solution:</a:t>
            </a:r>
            <a:r>
              <a:rPr lang="en-IN" sz="2000" dirty="0">
                <a:solidFill>
                  <a:schemeClr val="tx2"/>
                </a:solidFill>
              </a:rPr>
              <a:t> Apply </a:t>
            </a:r>
            <a:r>
              <a:rPr lang="en-IN" sz="2000" b="1" dirty="0">
                <a:solidFill>
                  <a:schemeClr val="tx2"/>
                </a:solidFill>
              </a:rPr>
              <a:t>cross-validation (K-Fold)</a:t>
            </a:r>
            <a:r>
              <a:rPr lang="en-IN" sz="2000" dirty="0">
                <a:solidFill>
                  <a:schemeClr val="tx2"/>
                </a:solidFill>
              </a:rPr>
              <a:t>, tune hyperparameters, and consider ensemble methods like Random Forest for better generalization.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14" name="Google Shape;214;p6"/>
          <p:cNvSpPr txBox="1"/>
          <p:nvPr/>
        </p:nvSpPr>
        <p:spPr>
          <a:xfrm>
            <a:off x="7858125" y="3050381"/>
            <a:ext cx="4748731" cy="2456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2000" b="1" u="sng" dirty="0">
                <a:solidFill>
                  <a:schemeClr val="tx2"/>
                </a:solidFill>
              </a:rPr>
              <a:t>Data Quality &amp; Preprocessing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Challenge:</a:t>
            </a:r>
            <a:r>
              <a:rPr lang="en-IN" sz="2000" dirty="0">
                <a:solidFill>
                  <a:schemeClr val="tx2"/>
                </a:solidFill>
              </a:rPr>
              <a:t> Missing, inconsistent, or noisy data can reduce ML accuracy. </a:t>
            </a:r>
          </a:p>
          <a:p>
            <a:r>
              <a:rPr lang="en-IN" sz="2000" b="1" dirty="0">
                <a:solidFill>
                  <a:schemeClr val="tx2"/>
                </a:solidFill>
              </a:rPr>
              <a:t>Solution:</a:t>
            </a:r>
            <a:r>
              <a:rPr lang="en-IN" sz="2000" dirty="0">
                <a:solidFill>
                  <a:schemeClr val="tx2"/>
                </a:solidFill>
              </a:rPr>
              <a:t> Use data cleaning techniques (handling missing values, outlier removal) and preprocessing pipelines in </a:t>
            </a:r>
            <a:r>
              <a:rPr lang="en-IN" sz="2000" b="1" dirty="0">
                <a:solidFill>
                  <a:schemeClr val="tx2"/>
                </a:solidFill>
              </a:rPr>
              <a:t>Pandas / NumPy</a:t>
            </a:r>
            <a:r>
              <a:rPr lang="en-IN" sz="2000" dirty="0">
                <a:solidFill>
                  <a:schemeClr val="tx2"/>
                </a:solidFill>
              </a:rPr>
              <a:t>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6"/>
          <p:cNvSpPr txBox="1"/>
          <p:nvPr/>
        </p:nvSpPr>
        <p:spPr>
          <a:xfrm>
            <a:off x="7459918" y="7268745"/>
            <a:ext cx="4748731" cy="2886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 u="sng" dirty="0">
                <a:solidFill>
                  <a:schemeClr val="tx2"/>
                </a:solidFill>
              </a:rPr>
              <a:t>Integration Between Frontend &amp; Backend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Challenge:</a:t>
            </a:r>
            <a:r>
              <a:rPr lang="en-US" sz="2000" dirty="0">
                <a:solidFill>
                  <a:schemeClr val="tx2"/>
                </a:solidFill>
              </a:rPr>
              <a:t> Linking </a:t>
            </a:r>
            <a:r>
              <a:rPr lang="en-US" sz="2000" b="1" dirty="0" err="1">
                <a:solidFill>
                  <a:schemeClr val="tx2"/>
                </a:solidFill>
              </a:rPr>
              <a:t>Streamlit</a:t>
            </a:r>
            <a:r>
              <a:rPr lang="en-US" sz="2000" b="1" dirty="0">
                <a:solidFill>
                  <a:schemeClr val="tx2"/>
                </a:solidFill>
              </a:rPr>
              <a:t> frontend</a:t>
            </a:r>
            <a:r>
              <a:rPr lang="en-US" sz="2000" dirty="0">
                <a:solidFill>
                  <a:schemeClr val="tx2"/>
                </a:solidFill>
              </a:rPr>
              <a:t> with Python backend and ML models can be slow or error-prone. </a:t>
            </a:r>
          </a:p>
          <a:p>
            <a:r>
              <a:rPr lang="en-US" sz="2000" b="1" dirty="0">
                <a:solidFill>
                  <a:schemeClr val="tx2"/>
                </a:solidFill>
              </a:rPr>
              <a:t>Solution:</a:t>
            </a:r>
            <a:r>
              <a:rPr lang="en-US" sz="2000" dirty="0">
                <a:solidFill>
                  <a:schemeClr val="tx2"/>
                </a:solidFill>
              </a:rPr>
              <a:t> Use efficient data handling, cache ML model results with </a:t>
            </a:r>
            <a:r>
              <a:rPr lang="en-US" sz="2000" b="1" dirty="0" err="1">
                <a:solidFill>
                  <a:schemeClr val="tx2"/>
                </a:solidFill>
              </a:rPr>
              <a:t>Joblib</a:t>
            </a:r>
            <a:r>
              <a:rPr lang="en-US" sz="2000" dirty="0">
                <a:solidFill>
                  <a:schemeClr val="tx2"/>
                </a:solidFill>
              </a:rPr>
              <a:t>, and test API/data flows thoroughly.</a:t>
            </a:r>
          </a:p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20" name="Google Shape;220;p6"/>
          <p:cNvSpPr txBox="1"/>
          <p:nvPr/>
        </p:nvSpPr>
        <p:spPr>
          <a:xfrm>
            <a:off x="12606856" y="7214340"/>
            <a:ext cx="474873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1" name="Google Shape;221;p6"/>
          <p:cNvGrpSpPr/>
          <p:nvPr/>
        </p:nvGrpSpPr>
        <p:grpSpPr>
          <a:xfrm rot="10800000">
            <a:off x="-1034932" y="6996006"/>
            <a:ext cx="3454198" cy="4601348"/>
            <a:chOff x="-67779" y="-102347"/>
            <a:chExt cx="4605597" cy="6135131"/>
          </a:xfrm>
        </p:grpSpPr>
        <p:grpSp>
          <p:nvGrpSpPr>
            <p:cNvPr id="222" name="Google Shape;222;p6"/>
            <p:cNvGrpSpPr/>
            <p:nvPr/>
          </p:nvGrpSpPr>
          <p:grpSpPr>
            <a:xfrm rot="-2700000">
              <a:off x="-86577" y="2937338"/>
              <a:ext cx="4441804" cy="1786685"/>
              <a:chOff x="0" y="-19050"/>
              <a:chExt cx="882773" cy="355089"/>
            </a:xfrm>
          </p:grpSpPr>
          <p:sp>
            <p:nvSpPr>
              <p:cNvPr id="223" name="Google Shape;223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 txBox="1"/>
              <p:nvPr/>
            </p:nvSpPr>
            <p:spPr>
              <a:xfrm>
                <a:off x="0" y="-19050"/>
                <a:ext cx="882773" cy="355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49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6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A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3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8" name="Google Shape;228;p6"/>
          <p:cNvSpPr txBox="1"/>
          <p:nvPr/>
        </p:nvSpPr>
        <p:spPr>
          <a:xfrm>
            <a:off x="13193389" y="6038850"/>
            <a:ext cx="21302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7209" y="1562100"/>
            <a:ext cx="11727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13197159" y="1562100"/>
            <a:ext cx="205482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8182611" y="6038850"/>
            <a:ext cx="206474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B0AFD3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A289B-7A3F-5893-E653-3FF64E229738}"/>
              </a:ext>
            </a:extLst>
          </p:cNvPr>
          <p:cNvSpPr txBox="1"/>
          <p:nvPr/>
        </p:nvSpPr>
        <p:spPr>
          <a:xfrm>
            <a:off x="13052322" y="7683910"/>
            <a:ext cx="474873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tx2"/>
                </a:solidFill>
              </a:rPr>
              <a:t>Deployment &amp; Scalability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Challenge:</a:t>
            </a:r>
            <a:r>
              <a:rPr lang="en-IN" sz="1800" dirty="0">
                <a:solidFill>
                  <a:schemeClr val="tx2"/>
                </a:solidFill>
              </a:rPr>
              <a:t> Supporting multiple users or large datasets may affect performance. 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Solution:</a:t>
            </a:r>
            <a:r>
              <a:rPr lang="en-IN" sz="1800" dirty="0">
                <a:solidFill>
                  <a:schemeClr val="tx2"/>
                </a:solidFill>
              </a:rPr>
              <a:t> Deploy on scalable platforms like </a:t>
            </a:r>
            <a:r>
              <a:rPr lang="en-IN" sz="1800" b="1" dirty="0" err="1">
                <a:solidFill>
                  <a:schemeClr val="tx2"/>
                </a:solidFill>
              </a:rPr>
              <a:t>Streamlit</a:t>
            </a:r>
            <a:r>
              <a:rPr lang="en-IN" sz="1800" b="1" dirty="0">
                <a:solidFill>
                  <a:schemeClr val="tx2"/>
                </a:solidFill>
              </a:rPr>
              <a:t> Cloud</a:t>
            </a:r>
            <a:r>
              <a:rPr lang="en-IN" sz="1800" dirty="0">
                <a:solidFill>
                  <a:schemeClr val="tx2"/>
                </a:solidFill>
              </a:rPr>
              <a:t> or </a:t>
            </a:r>
            <a:r>
              <a:rPr lang="en-IN" sz="1800" b="1" dirty="0">
                <a:solidFill>
                  <a:schemeClr val="tx2"/>
                </a:solidFill>
              </a:rPr>
              <a:t>Heroku</a:t>
            </a:r>
            <a:r>
              <a:rPr lang="en-IN" sz="1800" dirty="0">
                <a:solidFill>
                  <a:schemeClr val="tx2"/>
                </a:solidFill>
              </a:rPr>
              <a:t>, optimize code, and use lightweight data transfers.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1538288" y="7359447"/>
            <a:ext cx="401002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37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7"/>
          <p:cNvSpPr txBox="1"/>
          <p:nvPr/>
        </p:nvSpPr>
        <p:spPr>
          <a:xfrm>
            <a:off x="666750" y="800100"/>
            <a:ext cx="16954500" cy="18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Measurable Outcomes and Positive Impact</a:t>
            </a:r>
            <a:endParaRPr dirty="0"/>
          </a:p>
        </p:txBody>
      </p:sp>
      <p:sp>
        <p:nvSpPr>
          <p:cNvPr id="248" name="Google Shape;248;p7"/>
          <p:cNvSpPr/>
          <p:nvPr/>
        </p:nvSpPr>
        <p:spPr>
          <a:xfrm>
            <a:off x="12382500" y="3229898"/>
            <a:ext cx="5448300" cy="5825612"/>
          </a:xfrm>
          <a:custGeom>
            <a:avLst/>
            <a:gdLst/>
            <a:ahLst/>
            <a:cxnLst/>
            <a:rect l="l" t="t" r="r" b="b"/>
            <a:pathLst>
              <a:path w="1631088" h="1072184" extrusionOk="0">
                <a:moveTo>
                  <a:pt x="28420" y="0"/>
                </a:moveTo>
                <a:lnTo>
                  <a:pt x="1602669" y="0"/>
                </a:lnTo>
                <a:cubicBezTo>
                  <a:pt x="1618365" y="0"/>
                  <a:pt x="1631088" y="12724"/>
                  <a:pt x="1631088" y="28420"/>
                </a:cubicBezTo>
                <a:lnTo>
                  <a:pt x="1631088" y="1043764"/>
                </a:lnTo>
                <a:cubicBezTo>
                  <a:pt x="1631088" y="1059460"/>
                  <a:pt x="1618365" y="1072184"/>
                  <a:pt x="1602669" y="1072184"/>
                </a:cubicBezTo>
                <a:lnTo>
                  <a:pt x="28420" y="1072184"/>
                </a:lnTo>
                <a:cubicBezTo>
                  <a:pt x="12724" y="1072184"/>
                  <a:pt x="0" y="1059460"/>
                  <a:pt x="0" y="1043764"/>
                </a:cubicBezTo>
                <a:lnTo>
                  <a:pt x="0" y="28420"/>
                </a:lnTo>
                <a:cubicBezTo>
                  <a:pt x="0" y="12724"/>
                  <a:pt x="12724" y="0"/>
                  <a:pt x="2842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1" r="-82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0DFEE7-4C1B-3377-31A0-AE3DBEBB0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29898"/>
            <a:ext cx="5091113" cy="5825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CD805D-95EA-E65A-8831-A2AC0307E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1" y="3229898"/>
            <a:ext cx="5747555" cy="58256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334050" y="6443350"/>
            <a:ext cx="91341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13" b="0" i="0" u="none" strike="noStrike" cap="none" dirty="0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These mock-ups showcase a seamless experience for users, enhancing engagement through intuitive design and functionality.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DFC29-E56B-5761-28C0-3C689D219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47" y="383458"/>
            <a:ext cx="8861270" cy="6059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151CA1-FE3B-C704-CB23-927D9AD4B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482" y="265470"/>
            <a:ext cx="8861271" cy="4508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1DFD3B-B294-E583-1A90-9B1F3B4C2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482" y="5143500"/>
            <a:ext cx="8861271" cy="4878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4A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"/>
          <p:cNvSpPr txBox="1"/>
          <p:nvPr/>
        </p:nvSpPr>
        <p:spPr>
          <a:xfrm>
            <a:off x="666750" y="800100"/>
            <a:ext cx="16954500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B0AFD3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Future Enhancements</a:t>
            </a:r>
            <a:endParaRPr dirty="0"/>
          </a:p>
        </p:txBody>
      </p:sp>
      <p:sp>
        <p:nvSpPr>
          <p:cNvPr id="4" name="AutoShape 6" descr="Generated image: Future upgrades for AirFly system">
            <a:extLst>
              <a:ext uri="{FF2B5EF4-FFF2-40B4-BE49-F238E27FC236}">
                <a16:creationId xmlns:a16="http://schemas.microsoft.com/office/drawing/2014/main" id="{14507E8B-FF44-5AF9-8706-88493C2668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4838" y="2658855"/>
            <a:ext cx="14438671" cy="717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04435-751A-35F3-C175-7A98EFB277C4}"/>
              </a:ext>
            </a:extLst>
          </p:cNvPr>
          <p:cNvSpPr txBox="1"/>
          <p:nvPr/>
        </p:nvSpPr>
        <p:spPr>
          <a:xfrm>
            <a:off x="1666568" y="2403987"/>
            <a:ext cx="1181345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tx2"/>
                </a:solidFill>
              </a:rPr>
              <a:t>Real-Time Data Integration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Connect the dashboard with live APIs to provide real-time flight delay predictions and insights.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Predictive Analytics Improvements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Use advanced ML models like XG Boost, LSTM, or deep learning to improve accuracy in predicting delays.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User Personalization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Allow users to customize dashboards, select preferred routes, airlines, and notification alerts. 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Mobile-Friendly Version</a:t>
            </a:r>
            <a:r>
              <a:rPr lang="en-US" sz="2800" dirty="0">
                <a:solidFill>
                  <a:schemeClr val="tx2"/>
                </a:solidFill>
              </a:rPr>
              <a:t> – Develop a responsive mobile interface for access on smartphones and tablets.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Interactive Visualizations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Add more interactive charts, heatmaps, and route analysis for better user engagement.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Automated Reporting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Generate scheduled reports with key insights for stakeholders via email or cloud storage.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Sentiment &amp; Social Media Analysis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Integrate passenger reviews and social media feedback for a holistic view of airline performance. </a:t>
            </a:r>
          </a:p>
          <a:p>
            <a:r>
              <a:rPr lang="en-US" sz="2800" b="1" u="sng" dirty="0">
                <a:solidFill>
                  <a:schemeClr val="tx2"/>
                </a:solidFill>
              </a:rPr>
              <a:t>Scalability &amp; Cloud Deployment</a:t>
            </a:r>
            <a:r>
              <a:rPr lang="en-US" sz="2800" u="sng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Deploy the application on cloud platforms like AWS or Azure for better performance and scalability.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33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9296400" y="-103861"/>
            <a:ext cx="9198063" cy="10494722"/>
          </a:xfrm>
          <a:custGeom>
            <a:avLst/>
            <a:gdLst/>
            <a:ahLst/>
            <a:cxnLst/>
            <a:rect l="l" t="t" r="r" b="b"/>
            <a:pathLst>
              <a:path w="1425021" h="1625907" extrusionOk="0">
                <a:moveTo>
                  <a:pt x="0" y="0"/>
                </a:moveTo>
                <a:lnTo>
                  <a:pt x="1425021" y="0"/>
                </a:lnTo>
                <a:lnTo>
                  <a:pt x="1425021" y="1625907"/>
                </a:lnTo>
                <a:lnTo>
                  <a:pt x="0" y="162590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53" b="-153"/>
            </a:stretch>
          </a:blipFill>
          <a:ln w="19050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4" name="Google Shape;324;p14"/>
          <p:cNvSpPr txBox="1"/>
          <p:nvPr/>
        </p:nvSpPr>
        <p:spPr>
          <a:xfrm>
            <a:off x="6361866" y="3825567"/>
            <a:ext cx="8662833" cy="104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8" b="0" i="0" u="none" strike="noStrike" cap="none">
                <a:solidFill>
                  <a:srgbClr val="55D0FA"/>
                </a:solidFill>
                <a:latin typeface="Arial"/>
                <a:ea typeface="Arial"/>
                <a:cs typeface="Arial"/>
                <a:sym typeface="Arial"/>
              </a:rPr>
              <a:t>Thank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858" b="0" i="0" u="none" strike="noStrike" cap="none">
                <a:solidFill>
                  <a:srgbClr val="1A1F4A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r>
              <a:rPr lang="en-US" sz="7858" b="0" i="0" u="none" strike="noStrike" cap="none">
                <a:solidFill>
                  <a:srgbClr val="B0AFD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25" name="Google Shape;325;p14"/>
          <p:cNvGrpSpPr/>
          <p:nvPr/>
        </p:nvGrpSpPr>
        <p:grpSpPr>
          <a:xfrm rot="10800000">
            <a:off x="7289918" y="6934200"/>
            <a:ext cx="3479615" cy="4601348"/>
            <a:chOff x="-101668" y="-102347"/>
            <a:chExt cx="4639486" cy="6135131"/>
          </a:xfrm>
        </p:grpSpPr>
        <p:grpSp>
          <p:nvGrpSpPr>
            <p:cNvPr id="326" name="Google Shape;326;p14"/>
            <p:cNvGrpSpPr/>
            <p:nvPr/>
          </p:nvGrpSpPr>
          <p:grpSpPr>
            <a:xfrm rot="-2700000">
              <a:off x="-103522" y="2896431"/>
              <a:ext cx="4441804" cy="1834612"/>
              <a:chOff x="0" y="-28575"/>
              <a:chExt cx="882773" cy="364614"/>
            </a:xfrm>
          </p:grpSpPr>
          <p:sp>
            <p:nvSpPr>
              <p:cNvPr id="327" name="Google Shape;327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2BCA8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52525" tIns="152525" rIns="152525" bIns="152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30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14"/>
            <p:cNvGrpSpPr/>
            <p:nvPr/>
          </p:nvGrpSpPr>
          <p:grpSpPr>
            <a:xfrm rot="-2700000">
              <a:off x="68205" y="1208093"/>
              <a:ext cx="4471480" cy="1846868"/>
              <a:chOff x="0" y="-28575"/>
              <a:chExt cx="882773" cy="364614"/>
            </a:xfrm>
          </p:grpSpPr>
          <p:sp>
            <p:nvSpPr>
              <p:cNvPr id="330" name="Google Shape;330;p14"/>
              <p:cNvSpPr/>
              <p:nvPr/>
            </p:nvSpPr>
            <p:spPr>
              <a:xfrm>
                <a:off x="0" y="0"/>
                <a:ext cx="882773" cy="336039"/>
              </a:xfrm>
              <a:custGeom>
                <a:avLst/>
                <a:gdLst/>
                <a:ahLst/>
                <a:cxnLst/>
                <a:rect l="l" t="t" r="r" b="b"/>
                <a:pathLst>
                  <a:path w="882773" h="336039" extrusionOk="0">
                    <a:moveTo>
                      <a:pt x="679573" y="0"/>
                    </a:moveTo>
                    <a:cubicBezTo>
                      <a:pt x="791798" y="0"/>
                      <a:pt x="882773" y="75225"/>
                      <a:pt x="882773" y="168020"/>
                    </a:cubicBezTo>
                    <a:cubicBezTo>
                      <a:pt x="882773" y="260814"/>
                      <a:pt x="791798" y="336039"/>
                      <a:pt x="679573" y="336039"/>
                    </a:cubicBezTo>
                    <a:lnTo>
                      <a:pt x="203200" y="336039"/>
                    </a:lnTo>
                    <a:cubicBezTo>
                      <a:pt x="90976" y="336039"/>
                      <a:pt x="0" y="260814"/>
                      <a:pt x="0" y="168020"/>
                    </a:cubicBezTo>
                    <a:cubicBezTo>
                      <a:pt x="0" y="7522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35E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4"/>
              <p:cNvSpPr txBox="1"/>
              <p:nvPr/>
            </p:nvSpPr>
            <p:spPr>
              <a:xfrm>
                <a:off x="0" y="-28575"/>
                <a:ext cx="882773" cy="36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5700" tIns="55700" rIns="55700" bIns="5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818</Words>
  <Application>Microsoft Office PowerPoint</Application>
  <PresentationFormat>Custom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Times New Roman</vt:lpstr>
      <vt:lpstr>Calibri</vt:lpstr>
      <vt:lpstr>Bricolage Grotesque</vt:lpstr>
      <vt:lpstr>Times</vt:lpstr>
      <vt:lpstr>Bricolage Grotesque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chandrika manukonda</dc:creator>
  <cp:lastModifiedBy>chandrika manukonda</cp:lastModifiedBy>
  <cp:revision>3</cp:revision>
  <dcterms:created xsi:type="dcterms:W3CDTF">2006-08-16T00:00:00Z</dcterms:created>
  <dcterms:modified xsi:type="dcterms:W3CDTF">2026-04-03T06:04:43Z</dcterms:modified>
</cp:coreProperties>
</file>